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1" r:id="rId4"/>
    <p:sldId id="260" r:id="rId5"/>
    <p:sldId id="262" r:id="rId6"/>
    <p:sldId id="263" r:id="rId7"/>
    <p:sldId id="264" r:id="rId8"/>
    <p:sldId id="265" r:id="rId9"/>
    <p:sldId id="276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Purpose</a:t>
          </a:r>
        </a:p>
        <a:p>
          <a:pPr>
            <a:defRPr cap="all"/>
          </a:pPr>
          <a:endParaRPr lang="en-US" sz="1800" dirty="0"/>
        </a:p>
        <a:p>
          <a:pPr>
            <a:defRPr cap="all"/>
          </a:pPr>
          <a:r>
            <a:rPr lang="en-US" sz="1800" dirty="0"/>
            <a:t>Data cleaning, exploratory data analysis (EDA), and visualization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</dgm:pt>
    <dgm:pt modelId="{53742231-981F-480A-940F-203EC2F7423F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Objective</a:t>
          </a:r>
        </a:p>
        <a:p>
          <a:pPr>
            <a:defRPr cap="all"/>
          </a:pPr>
          <a:endParaRPr lang="en-US" sz="1900" dirty="0"/>
        </a:p>
        <a:p>
          <a:pPr>
            <a:defRPr cap="all"/>
          </a:pPr>
          <a:r>
            <a:rPr lang="en-US" sz="1900" dirty="0"/>
            <a:t>Derive insights into rental trends, tenant satisfaction, and property management efficiency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</dgm:pt>
    <dgm:pt modelId="{9EF41CC5-EF3B-4A6D-8229-3F1333EADFB3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Scope</a:t>
          </a:r>
        </a:p>
        <a:p>
          <a:pPr>
            <a:defRPr cap="all"/>
          </a:pPr>
          <a:endParaRPr lang="en-US" sz="2400" dirty="0"/>
        </a:p>
        <a:p>
          <a:pPr>
            <a:defRPr cap="all"/>
          </a:pPr>
          <a:r>
            <a:rPr lang="en-US" sz="1900" dirty="0"/>
            <a:t>Rental properties across various Canadian cities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</dgm:pt>
    <dgm:pt modelId="{EF0BD8C3-7CC7-4EE6-8437-5E844E527BEA}" type="pres">
      <dgm:prSet presAssocID="{8AA20905-3954-474B-A606-562BCA026DC1}" presName="rootnode" presStyleCnt="0">
        <dgm:presLayoutVars>
          <dgm:chMax/>
          <dgm:chPref/>
          <dgm:dir/>
          <dgm:animLvl val="lvl"/>
        </dgm:presLayoutVars>
      </dgm:prSet>
      <dgm:spPr/>
    </dgm:pt>
    <dgm:pt modelId="{0786717E-6876-4C9B-A0D8-E1457E98ABD0}" type="pres">
      <dgm:prSet presAssocID="{DC13AB6D-DEA2-4CBB-AC69-1EF1A6AD1512}" presName="composite" presStyleCnt="0"/>
      <dgm:spPr/>
    </dgm:pt>
    <dgm:pt modelId="{7EFB0F67-A058-4676-B8E9-999B35271555}" type="pres">
      <dgm:prSet presAssocID="{DC13AB6D-DEA2-4CBB-AC69-1EF1A6AD1512}" presName="LShape" presStyleLbl="alignNode1" presStyleIdx="0" presStyleCnt="5"/>
      <dgm:spPr/>
    </dgm:pt>
    <dgm:pt modelId="{90516A2D-BA1D-4598-B7E3-238543C837CE}" type="pres">
      <dgm:prSet presAssocID="{DC13AB6D-DEA2-4CBB-AC69-1EF1A6AD1512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10E63B7-23FA-44FD-AF2E-10C9427840DD}" type="pres">
      <dgm:prSet presAssocID="{DC13AB6D-DEA2-4CBB-AC69-1EF1A6AD1512}" presName="Triangle" presStyleLbl="alignNode1" presStyleIdx="1" presStyleCnt="5"/>
      <dgm:spPr/>
    </dgm:pt>
    <dgm:pt modelId="{D747CCCC-6EFF-4DB9-BE72-273D8DC0CA3C}" type="pres">
      <dgm:prSet presAssocID="{9C64CC83-643C-4E12-8F97-BC19DC031190}" presName="sibTrans" presStyleCnt="0"/>
      <dgm:spPr/>
    </dgm:pt>
    <dgm:pt modelId="{BFED58B5-ABE2-40A1-B30C-94C3AA632E2F}" type="pres">
      <dgm:prSet presAssocID="{9C64CC83-643C-4E12-8F97-BC19DC031190}" presName="space" presStyleCnt="0"/>
      <dgm:spPr/>
    </dgm:pt>
    <dgm:pt modelId="{634ACA70-776D-4839-8F29-CAF7CAA9E33F}" type="pres">
      <dgm:prSet presAssocID="{53742231-981F-480A-940F-203EC2F7423F}" presName="composite" presStyleCnt="0"/>
      <dgm:spPr/>
    </dgm:pt>
    <dgm:pt modelId="{208C006A-26C8-45B9-A897-FED7115B75D7}" type="pres">
      <dgm:prSet presAssocID="{53742231-981F-480A-940F-203EC2F7423F}" presName="LShape" presStyleLbl="alignNode1" presStyleIdx="2" presStyleCnt="5" custLinFactNeighborX="248" custLinFactNeighborY="1574"/>
      <dgm:spPr/>
    </dgm:pt>
    <dgm:pt modelId="{2158CC3C-CE4E-47AA-BA5B-D4DDE3942FE9}" type="pres">
      <dgm:prSet presAssocID="{53742231-981F-480A-940F-203EC2F7423F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3F1FC11-56D6-434F-BEF9-42CD06580978}" type="pres">
      <dgm:prSet presAssocID="{53742231-981F-480A-940F-203EC2F7423F}" presName="Triangle" presStyleLbl="alignNode1" presStyleIdx="3" presStyleCnt="5"/>
      <dgm:spPr/>
    </dgm:pt>
    <dgm:pt modelId="{9C264B44-FED8-4065-93A1-67124334A8BC}" type="pres">
      <dgm:prSet presAssocID="{EF449C32-A7AE-4099-9E9B-9E2F736A89CE}" presName="sibTrans" presStyleCnt="0"/>
      <dgm:spPr/>
    </dgm:pt>
    <dgm:pt modelId="{16C7DDC9-185E-4C74-9028-CA6E172B4278}" type="pres">
      <dgm:prSet presAssocID="{EF449C32-A7AE-4099-9E9B-9E2F736A89CE}" presName="space" presStyleCnt="0"/>
      <dgm:spPr/>
    </dgm:pt>
    <dgm:pt modelId="{AA37D43F-136A-4969-9625-19FAD6E3A76B}" type="pres">
      <dgm:prSet presAssocID="{9EF41CC5-EF3B-4A6D-8229-3F1333EADFB3}" presName="composite" presStyleCnt="0"/>
      <dgm:spPr/>
    </dgm:pt>
    <dgm:pt modelId="{C388D374-3C46-4D6E-AFA5-8350EF8996A1}" type="pres">
      <dgm:prSet presAssocID="{9EF41CC5-EF3B-4A6D-8229-3F1333EADFB3}" presName="LShape" presStyleLbl="alignNode1" presStyleIdx="4" presStyleCnt="5"/>
      <dgm:spPr/>
    </dgm:pt>
    <dgm:pt modelId="{F072ED4A-9E31-4544-AAE6-61C013CCC176}" type="pres">
      <dgm:prSet presAssocID="{9EF41CC5-EF3B-4A6D-8229-3F1333EADFB3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7F1B648-4147-4512-AA62-C15D55970B03}" type="presOf" srcId="{DC13AB6D-DEA2-4CBB-AC69-1EF1A6AD1512}" destId="{90516A2D-BA1D-4598-B7E3-238543C837CE}" srcOrd="0" destOrd="0" presId="urn:microsoft.com/office/officeart/2009/3/layout/StepUpProcess"/>
    <dgm:cxn modelId="{9209AD52-9816-4D03-BE84-825FDB6BE96E}" type="presOf" srcId="{8AA20905-3954-474B-A606-562BCA026DC1}" destId="{EF0BD8C3-7CC7-4EE6-8437-5E844E527BEA}" srcOrd="0" destOrd="0" presId="urn:microsoft.com/office/officeart/2009/3/layout/StepUpProcess"/>
    <dgm:cxn modelId="{640DA958-D7DA-427B-BF4E-EA3DCB48B46D}" type="presOf" srcId="{53742231-981F-480A-940F-203EC2F7423F}" destId="{2158CC3C-CE4E-47AA-BA5B-D4DDE3942FE9}" srcOrd="0" destOrd="0" presId="urn:microsoft.com/office/officeart/2009/3/layout/StepUpProcess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31101BB6-324B-44E5-8127-1D9DBDF50119}" type="presOf" srcId="{9EF41CC5-EF3B-4A6D-8229-3F1333EADFB3}" destId="{F072ED4A-9E31-4544-AAE6-61C013CCC176}" srcOrd="0" destOrd="0" presId="urn:microsoft.com/office/officeart/2009/3/layout/StepUpProcess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F64332CB-9504-4173-9383-85D0CFE45F0A}" type="presParOf" srcId="{EF0BD8C3-7CC7-4EE6-8437-5E844E527BEA}" destId="{0786717E-6876-4C9B-A0D8-E1457E98ABD0}" srcOrd="0" destOrd="0" presId="urn:microsoft.com/office/officeart/2009/3/layout/StepUpProcess"/>
    <dgm:cxn modelId="{4665BF76-D107-4FD5-A35E-8B1158B74AC5}" type="presParOf" srcId="{0786717E-6876-4C9B-A0D8-E1457E98ABD0}" destId="{7EFB0F67-A058-4676-B8E9-999B35271555}" srcOrd="0" destOrd="0" presId="urn:microsoft.com/office/officeart/2009/3/layout/StepUpProcess"/>
    <dgm:cxn modelId="{24DC0E9F-7939-423F-8457-08438E6CFB30}" type="presParOf" srcId="{0786717E-6876-4C9B-A0D8-E1457E98ABD0}" destId="{90516A2D-BA1D-4598-B7E3-238543C837CE}" srcOrd="1" destOrd="0" presId="urn:microsoft.com/office/officeart/2009/3/layout/StepUpProcess"/>
    <dgm:cxn modelId="{B154618E-CB66-437E-9242-78725B3C8C74}" type="presParOf" srcId="{0786717E-6876-4C9B-A0D8-E1457E98ABD0}" destId="{E10E63B7-23FA-44FD-AF2E-10C9427840DD}" srcOrd="2" destOrd="0" presId="urn:microsoft.com/office/officeart/2009/3/layout/StepUpProcess"/>
    <dgm:cxn modelId="{CEC5D38F-68F6-458B-96C6-8C721E95F62D}" type="presParOf" srcId="{EF0BD8C3-7CC7-4EE6-8437-5E844E527BEA}" destId="{D747CCCC-6EFF-4DB9-BE72-273D8DC0CA3C}" srcOrd="1" destOrd="0" presId="urn:microsoft.com/office/officeart/2009/3/layout/StepUpProcess"/>
    <dgm:cxn modelId="{FF04357E-CA94-45B4-9E3E-6CB022C124F6}" type="presParOf" srcId="{D747CCCC-6EFF-4DB9-BE72-273D8DC0CA3C}" destId="{BFED58B5-ABE2-40A1-B30C-94C3AA632E2F}" srcOrd="0" destOrd="0" presId="urn:microsoft.com/office/officeart/2009/3/layout/StepUpProcess"/>
    <dgm:cxn modelId="{6F82E64A-1019-4AEB-826D-E20D19E10206}" type="presParOf" srcId="{EF0BD8C3-7CC7-4EE6-8437-5E844E527BEA}" destId="{634ACA70-776D-4839-8F29-CAF7CAA9E33F}" srcOrd="2" destOrd="0" presId="urn:microsoft.com/office/officeart/2009/3/layout/StepUpProcess"/>
    <dgm:cxn modelId="{E82FF67C-5487-4C22-87C1-C91D9A6F2549}" type="presParOf" srcId="{634ACA70-776D-4839-8F29-CAF7CAA9E33F}" destId="{208C006A-26C8-45B9-A897-FED7115B75D7}" srcOrd="0" destOrd="0" presId="urn:microsoft.com/office/officeart/2009/3/layout/StepUpProcess"/>
    <dgm:cxn modelId="{47A366A4-4544-4DE0-B288-5B741EC916C9}" type="presParOf" srcId="{634ACA70-776D-4839-8F29-CAF7CAA9E33F}" destId="{2158CC3C-CE4E-47AA-BA5B-D4DDE3942FE9}" srcOrd="1" destOrd="0" presId="urn:microsoft.com/office/officeart/2009/3/layout/StepUpProcess"/>
    <dgm:cxn modelId="{E9F86584-3C6E-47AA-9F83-DCADD3CA0D40}" type="presParOf" srcId="{634ACA70-776D-4839-8F29-CAF7CAA9E33F}" destId="{23F1FC11-56D6-434F-BEF9-42CD06580978}" srcOrd="2" destOrd="0" presId="urn:microsoft.com/office/officeart/2009/3/layout/StepUpProcess"/>
    <dgm:cxn modelId="{BC92FF89-FD89-490F-89E1-A84438789049}" type="presParOf" srcId="{EF0BD8C3-7CC7-4EE6-8437-5E844E527BEA}" destId="{9C264B44-FED8-4065-93A1-67124334A8BC}" srcOrd="3" destOrd="0" presId="urn:microsoft.com/office/officeart/2009/3/layout/StepUpProcess"/>
    <dgm:cxn modelId="{D486E285-3C01-47A5-929A-8CBE32C799D1}" type="presParOf" srcId="{9C264B44-FED8-4065-93A1-67124334A8BC}" destId="{16C7DDC9-185E-4C74-9028-CA6E172B4278}" srcOrd="0" destOrd="0" presId="urn:microsoft.com/office/officeart/2009/3/layout/StepUpProcess"/>
    <dgm:cxn modelId="{2B8E0733-9B2B-4C93-B52D-403892BA79EA}" type="presParOf" srcId="{EF0BD8C3-7CC7-4EE6-8437-5E844E527BEA}" destId="{AA37D43F-136A-4969-9625-19FAD6E3A76B}" srcOrd="4" destOrd="0" presId="urn:microsoft.com/office/officeart/2009/3/layout/StepUpProcess"/>
    <dgm:cxn modelId="{2CFB0331-ED1A-4E9C-AB2B-AB22A7F4E8FE}" type="presParOf" srcId="{AA37D43F-136A-4969-9625-19FAD6E3A76B}" destId="{C388D374-3C46-4D6E-AFA5-8350EF8996A1}" srcOrd="0" destOrd="0" presId="urn:microsoft.com/office/officeart/2009/3/layout/StepUpProcess"/>
    <dgm:cxn modelId="{AE18BB39-64DF-42E7-89FB-C06061E97885}" type="presParOf" srcId="{AA37D43F-136A-4969-9625-19FAD6E3A76B}" destId="{F072ED4A-9E31-4544-AAE6-61C013CCC176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08/layout/Increasing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 custT="1"/>
      <dgm:spPr/>
      <dgm:t>
        <a:bodyPr/>
        <a:lstStyle/>
        <a:p>
          <a:pPr>
            <a:defRPr cap="all"/>
          </a:pPr>
          <a:r>
            <a:rPr lang="en-US" sz="2400" b="1" dirty="0" err="1"/>
            <a:t>AverAGE</a:t>
          </a:r>
          <a:r>
            <a:rPr lang="en-US" sz="2400" b="1" dirty="0"/>
            <a:t> Monthly rent</a:t>
          </a:r>
        </a:p>
        <a:p>
          <a:pPr>
            <a:defRPr cap="all"/>
          </a:pPr>
          <a:endParaRPr lang="en-US" sz="2400" b="1" dirty="0"/>
        </a:p>
        <a:p>
          <a:pPr>
            <a:defRPr cap="all"/>
          </a:pPr>
          <a:r>
            <a:rPr lang="en-US" sz="2400" dirty="0"/>
            <a:t>$1,800</a:t>
          </a:r>
          <a:endParaRPr lang="en-US" sz="2400" b="1" dirty="0"/>
        </a:p>
        <a:p>
          <a:pPr>
            <a:defRPr cap="all"/>
          </a:pPr>
          <a:endParaRPr lang="en-US" sz="1800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</dgm:pt>
    <dgm:pt modelId="{53742231-981F-480A-940F-203EC2F7423F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Higher rents in urban areas</a:t>
          </a:r>
        </a:p>
        <a:p>
          <a:pPr>
            <a:defRPr cap="all"/>
          </a:pPr>
          <a:endParaRPr lang="en-US" sz="1900" dirty="0"/>
        </a:p>
        <a:p>
          <a:pPr>
            <a:defRPr cap="all"/>
          </a:pPr>
          <a:r>
            <a:rPr lang="en-US" sz="1900" dirty="0"/>
            <a:t>Toronto: CAD 2,500; smaller cities: CAD 1,200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</dgm:pt>
    <dgm:pt modelId="{9EF41CC5-EF3B-4A6D-8229-3F1333EADFB3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Property Type Influence</a:t>
          </a:r>
        </a:p>
        <a:p>
          <a:pPr>
            <a:defRPr cap="all"/>
          </a:pPr>
          <a:r>
            <a:rPr lang="en-US" sz="1900" dirty="0"/>
            <a:t>Apartments (CAD 1,600), Houses (CAD 2,200), Condos (CAD 1,900)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</dgm:pt>
    <dgm:pt modelId="{D83A090E-7D93-493D-8712-2BCE30524216}" type="pres">
      <dgm:prSet presAssocID="{8AA20905-3954-474B-A606-562BCA026DC1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C668C39C-4769-4DF1-88E2-EDE12BE64671}" type="pres">
      <dgm:prSet presAssocID="{DC13AB6D-DEA2-4CBB-AC69-1EF1A6AD1512}" presName="composite" presStyleCnt="0"/>
      <dgm:spPr/>
    </dgm:pt>
    <dgm:pt modelId="{BBE78805-36BF-42C0-A6A7-ACD1D7BBA19A}" type="pres">
      <dgm:prSet presAssocID="{DC13AB6D-DEA2-4CBB-AC69-1EF1A6AD1512}" presName="BackAccent" presStyleLbl="bgShp" presStyleIdx="0" presStyleCnt="3"/>
      <dgm:spPr/>
    </dgm:pt>
    <dgm:pt modelId="{1DE702A0-E887-4198-9486-6D7E6EE65908}" type="pres">
      <dgm:prSet presAssocID="{DC13AB6D-DEA2-4CBB-AC69-1EF1A6AD1512}" presName="Accent" presStyleLbl="alignNode1" presStyleIdx="0" presStyleCnt="3"/>
      <dgm:spPr/>
    </dgm:pt>
    <dgm:pt modelId="{96B5DD10-4196-4E4D-835E-311F4C0246B2}" type="pres">
      <dgm:prSet presAssocID="{DC13AB6D-DEA2-4CBB-AC69-1EF1A6AD1512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19554D3-0B1E-49DA-B9A8-09CFB6A8DD0C}" type="pres">
      <dgm:prSet presAssocID="{DC13AB6D-DEA2-4CBB-AC69-1EF1A6AD1512}" presName="Parent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3D80D2E6-ABF5-48B9-AD62-D2A9FC867838}" type="pres">
      <dgm:prSet presAssocID="{9C64CC83-643C-4E12-8F97-BC19DC031190}" presName="sibTrans" presStyleCnt="0"/>
      <dgm:spPr/>
    </dgm:pt>
    <dgm:pt modelId="{80E0A8BD-14DF-4A27-9CA8-0F01901C14C4}" type="pres">
      <dgm:prSet presAssocID="{53742231-981F-480A-940F-203EC2F7423F}" presName="composite" presStyleCnt="0"/>
      <dgm:spPr/>
    </dgm:pt>
    <dgm:pt modelId="{2EF09766-B477-421E-A828-7F86CE315EDC}" type="pres">
      <dgm:prSet presAssocID="{53742231-981F-480A-940F-203EC2F7423F}" presName="BackAccent" presStyleLbl="bgShp" presStyleIdx="1" presStyleCnt="3"/>
      <dgm:spPr/>
    </dgm:pt>
    <dgm:pt modelId="{4D13B3FD-0065-404B-B7B9-17877B5250B4}" type="pres">
      <dgm:prSet presAssocID="{53742231-981F-480A-940F-203EC2F7423F}" presName="Accent" presStyleLbl="alignNode1" presStyleIdx="1" presStyleCnt="3"/>
      <dgm:spPr/>
    </dgm:pt>
    <dgm:pt modelId="{9A00FC2A-29A3-470D-8820-382AFD71EAF9}" type="pres">
      <dgm:prSet presAssocID="{53742231-981F-480A-940F-203EC2F7423F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564EB038-C1D0-4AF1-B5DA-F58D22215A96}" type="pres">
      <dgm:prSet presAssocID="{53742231-981F-480A-940F-203EC2F7423F}" presName="Parent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0486221-9812-45C0-BE34-FC56C480BA86}" type="pres">
      <dgm:prSet presAssocID="{EF449C32-A7AE-4099-9E9B-9E2F736A89CE}" presName="sibTrans" presStyleCnt="0"/>
      <dgm:spPr/>
    </dgm:pt>
    <dgm:pt modelId="{A4CEE3B3-8A4C-4418-887A-49918BD79698}" type="pres">
      <dgm:prSet presAssocID="{9EF41CC5-EF3B-4A6D-8229-3F1333EADFB3}" presName="composite" presStyleCnt="0"/>
      <dgm:spPr/>
    </dgm:pt>
    <dgm:pt modelId="{3541D3D9-55CA-4758-B7E2-8672B44DE871}" type="pres">
      <dgm:prSet presAssocID="{9EF41CC5-EF3B-4A6D-8229-3F1333EADFB3}" presName="BackAccent" presStyleLbl="bgShp" presStyleIdx="2" presStyleCnt="3"/>
      <dgm:spPr/>
    </dgm:pt>
    <dgm:pt modelId="{419C3603-95A0-436A-A48D-7527BCC78FD9}" type="pres">
      <dgm:prSet presAssocID="{9EF41CC5-EF3B-4A6D-8229-3F1333EADFB3}" presName="Accent" presStyleLbl="alignNode1" presStyleIdx="2" presStyleCnt="3"/>
      <dgm:spPr/>
    </dgm:pt>
    <dgm:pt modelId="{9589C247-9C40-40AB-AB12-7D462271DFE7}" type="pres">
      <dgm:prSet presAssocID="{9EF41CC5-EF3B-4A6D-8229-3F1333EADFB3}" presName="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3B113BA-9DFA-4F1B-8310-11C3875FC1AF}" type="pres">
      <dgm:prSet presAssocID="{9EF41CC5-EF3B-4A6D-8229-3F1333EADFB3}" presName="Parent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3C58BF27-88CD-4299-B6B1-31D34F5C4025}" type="presOf" srcId="{9EF41CC5-EF3B-4A6D-8229-3F1333EADFB3}" destId="{63B113BA-9DFA-4F1B-8310-11C3875FC1AF}" srcOrd="0" destOrd="0" presId="urn:microsoft.com/office/officeart/2008/layout/IncreasingCircleProcess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663037A1-D74B-4910-878D-F737ACA7CC67}" type="presOf" srcId="{53742231-981F-480A-940F-203EC2F7423F}" destId="{564EB038-C1D0-4AF1-B5DA-F58D22215A96}" srcOrd="0" destOrd="0" presId="urn:microsoft.com/office/officeart/2008/layout/IncreasingCircleProcess"/>
    <dgm:cxn modelId="{519EBFA1-2D13-4ACF-8994-42252F5774B6}" type="presOf" srcId="{DC13AB6D-DEA2-4CBB-AC69-1EF1A6AD1512}" destId="{A19554D3-0B1E-49DA-B9A8-09CFB6A8DD0C}" srcOrd="0" destOrd="0" presId="urn:microsoft.com/office/officeart/2008/layout/IncreasingCircleProcess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A97305F9-8DD3-4699-8595-F7FBB6C28485}" type="presOf" srcId="{8AA20905-3954-474B-A606-562BCA026DC1}" destId="{D83A090E-7D93-493D-8712-2BCE30524216}" srcOrd="0" destOrd="0" presId="urn:microsoft.com/office/officeart/2008/layout/IncreasingCircleProcess"/>
    <dgm:cxn modelId="{C928EF71-2CE6-422A-BC39-648B6A957AA3}" type="presParOf" srcId="{D83A090E-7D93-493D-8712-2BCE30524216}" destId="{C668C39C-4769-4DF1-88E2-EDE12BE64671}" srcOrd="0" destOrd="0" presId="urn:microsoft.com/office/officeart/2008/layout/IncreasingCircleProcess"/>
    <dgm:cxn modelId="{3FD18D2F-5982-4D28-A686-AB4C699A669F}" type="presParOf" srcId="{C668C39C-4769-4DF1-88E2-EDE12BE64671}" destId="{BBE78805-36BF-42C0-A6A7-ACD1D7BBA19A}" srcOrd="0" destOrd="0" presId="urn:microsoft.com/office/officeart/2008/layout/IncreasingCircleProcess"/>
    <dgm:cxn modelId="{0F3A884C-668C-41A4-9475-2E7738A9BA00}" type="presParOf" srcId="{C668C39C-4769-4DF1-88E2-EDE12BE64671}" destId="{1DE702A0-E887-4198-9486-6D7E6EE65908}" srcOrd="1" destOrd="0" presId="urn:microsoft.com/office/officeart/2008/layout/IncreasingCircleProcess"/>
    <dgm:cxn modelId="{21AA8C32-2FA4-4E37-BBF3-EAE203D8C808}" type="presParOf" srcId="{C668C39C-4769-4DF1-88E2-EDE12BE64671}" destId="{96B5DD10-4196-4E4D-835E-311F4C0246B2}" srcOrd="2" destOrd="0" presId="urn:microsoft.com/office/officeart/2008/layout/IncreasingCircleProcess"/>
    <dgm:cxn modelId="{9A7FDFE7-8C90-40F4-A63F-D1A41B3ABA25}" type="presParOf" srcId="{C668C39C-4769-4DF1-88E2-EDE12BE64671}" destId="{A19554D3-0B1E-49DA-B9A8-09CFB6A8DD0C}" srcOrd="3" destOrd="0" presId="urn:microsoft.com/office/officeart/2008/layout/IncreasingCircleProcess"/>
    <dgm:cxn modelId="{921E86E9-8CC1-4F40-8760-61DAA0325B61}" type="presParOf" srcId="{D83A090E-7D93-493D-8712-2BCE30524216}" destId="{3D80D2E6-ABF5-48B9-AD62-D2A9FC867838}" srcOrd="1" destOrd="0" presId="urn:microsoft.com/office/officeart/2008/layout/IncreasingCircleProcess"/>
    <dgm:cxn modelId="{66D9F3EC-59F9-4323-8398-0FBAD1D67443}" type="presParOf" srcId="{D83A090E-7D93-493D-8712-2BCE30524216}" destId="{80E0A8BD-14DF-4A27-9CA8-0F01901C14C4}" srcOrd="2" destOrd="0" presId="urn:microsoft.com/office/officeart/2008/layout/IncreasingCircleProcess"/>
    <dgm:cxn modelId="{D417BF7B-9A2C-4E36-A9CE-4BFD54C04FA8}" type="presParOf" srcId="{80E0A8BD-14DF-4A27-9CA8-0F01901C14C4}" destId="{2EF09766-B477-421E-A828-7F86CE315EDC}" srcOrd="0" destOrd="0" presId="urn:microsoft.com/office/officeart/2008/layout/IncreasingCircleProcess"/>
    <dgm:cxn modelId="{23A9C668-AF8B-451A-908D-D95CB598B6B8}" type="presParOf" srcId="{80E0A8BD-14DF-4A27-9CA8-0F01901C14C4}" destId="{4D13B3FD-0065-404B-B7B9-17877B5250B4}" srcOrd="1" destOrd="0" presId="urn:microsoft.com/office/officeart/2008/layout/IncreasingCircleProcess"/>
    <dgm:cxn modelId="{0125D00B-4841-4A87-92E6-3C96717FE3B6}" type="presParOf" srcId="{80E0A8BD-14DF-4A27-9CA8-0F01901C14C4}" destId="{9A00FC2A-29A3-470D-8820-382AFD71EAF9}" srcOrd="2" destOrd="0" presId="urn:microsoft.com/office/officeart/2008/layout/IncreasingCircleProcess"/>
    <dgm:cxn modelId="{266FABAC-72FD-4C55-ACAE-33E20A059AED}" type="presParOf" srcId="{80E0A8BD-14DF-4A27-9CA8-0F01901C14C4}" destId="{564EB038-C1D0-4AF1-B5DA-F58D22215A96}" srcOrd="3" destOrd="0" presId="urn:microsoft.com/office/officeart/2008/layout/IncreasingCircleProcess"/>
    <dgm:cxn modelId="{3BA1AE89-7C35-4751-9067-995DE33C11E9}" type="presParOf" srcId="{D83A090E-7D93-493D-8712-2BCE30524216}" destId="{40486221-9812-45C0-BE34-FC56C480BA86}" srcOrd="3" destOrd="0" presId="urn:microsoft.com/office/officeart/2008/layout/IncreasingCircleProcess"/>
    <dgm:cxn modelId="{C9307791-F895-4C2B-AFE7-6820E0689275}" type="presParOf" srcId="{D83A090E-7D93-493D-8712-2BCE30524216}" destId="{A4CEE3B3-8A4C-4418-887A-49918BD79698}" srcOrd="4" destOrd="0" presId="urn:microsoft.com/office/officeart/2008/layout/IncreasingCircleProcess"/>
    <dgm:cxn modelId="{00926A1F-6CFE-4262-B061-5469EDBC4EEA}" type="presParOf" srcId="{A4CEE3B3-8A4C-4418-887A-49918BD79698}" destId="{3541D3D9-55CA-4758-B7E2-8672B44DE871}" srcOrd="0" destOrd="0" presId="urn:microsoft.com/office/officeart/2008/layout/IncreasingCircleProcess"/>
    <dgm:cxn modelId="{91440004-D63A-4887-A785-0871DEB2801E}" type="presParOf" srcId="{A4CEE3B3-8A4C-4418-887A-49918BD79698}" destId="{419C3603-95A0-436A-A48D-7527BCC78FD9}" srcOrd="1" destOrd="0" presId="urn:microsoft.com/office/officeart/2008/layout/IncreasingCircleProcess"/>
    <dgm:cxn modelId="{7CD530BD-6669-4A1A-8FE6-033B1833905D}" type="presParOf" srcId="{A4CEE3B3-8A4C-4418-887A-49918BD79698}" destId="{9589C247-9C40-40AB-AB12-7D462271DFE7}" srcOrd="2" destOrd="0" presId="urn:microsoft.com/office/officeart/2008/layout/IncreasingCircleProcess"/>
    <dgm:cxn modelId="{74D29154-AEE2-4C2A-8416-2F5BF5DE16E0}" type="presParOf" srcId="{A4CEE3B3-8A4C-4418-887A-49918BD79698}" destId="{63B113BA-9DFA-4F1B-8310-11C3875FC1AF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B0F67-A058-4676-B8E9-999B35271555}">
      <dsp:nvSpPr>
        <dsp:cNvPr id="0" name=""/>
        <dsp:cNvSpPr/>
      </dsp:nvSpPr>
      <dsp:spPr>
        <a:xfrm rot="5400000">
          <a:off x="643696" y="1333163"/>
          <a:ext cx="1936649" cy="3222541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16A2D-BA1D-4598-B7E3-238543C837CE}">
      <dsp:nvSpPr>
        <dsp:cNvPr id="0" name=""/>
        <dsp:cNvSpPr/>
      </dsp:nvSpPr>
      <dsp:spPr>
        <a:xfrm>
          <a:off x="320421" y="2296009"/>
          <a:ext cx="2909328" cy="2550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Purpose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Data cleaning, exploratory data analysis (EDA), and visualization</a:t>
          </a:r>
        </a:p>
      </dsp:txBody>
      <dsp:txXfrm>
        <a:off x="320421" y="2296009"/>
        <a:ext cx="2909328" cy="2550197"/>
      </dsp:txXfrm>
    </dsp:sp>
    <dsp:sp modelId="{E10E63B7-23FA-44FD-AF2E-10C9427840DD}">
      <dsp:nvSpPr>
        <dsp:cNvPr id="0" name=""/>
        <dsp:cNvSpPr/>
      </dsp:nvSpPr>
      <dsp:spPr>
        <a:xfrm>
          <a:off x="2680820" y="1095916"/>
          <a:ext cx="548929" cy="548929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C006A-26C8-45B9-A897-FED7115B75D7}">
      <dsp:nvSpPr>
        <dsp:cNvPr id="0" name=""/>
        <dsp:cNvSpPr/>
      </dsp:nvSpPr>
      <dsp:spPr>
        <a:xfrm rot="5400000">
          <a:off x="4213275" y="482328"/>
          <a:ext cx="1936649" cy="322254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8CC3C-CE4E-47AA-BA5B-D4DDE3942FE9}">
      <dsp:nvSpPr>
        <dsp:cNvPr id="0" name=""/>
        <dsp:cNvSpPr/>
      </dsp:nvSpPr>
      <dsp:spPr>
        <a:xfrm>
          <a:off x="3882008" y="1414691"/>
          <a:ext cx="2909328" cy="2550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Objective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9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Derive insights into rental trends, tenant satisfaction, and property management efficiency</a:t>
          </a:r>
        </a:p>
      </dsp:txBody>
      <dsp:txXfrm>
        <a:off x="3882008" y="1414691"/>
        <a:ext cx="2909328" cy="2550197"/>
      </dsp:txXfrm>
    </dsp:sp>
    <dsp:sp modelId="{23F1FC11-56D6-434F-BEF9-42CD06580978}">
      <dsp:nvSpPr>
        <dsp:cNvPr id="0" name=""/>
        <dsp:cNvSpPr/>
      </dsp:nvSpPr>
      <dsp:spPr>
        <a:xfrm>
          <a:off x="6242407" y="214598"/>
          <a:ext cx="548929" cy="548929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8D374-3C46-4D6E-AFA5-8350EF8996A1}">
      <dsp:nvSpPr>
        <dsp:cNvPr id="0" name=""/>
        <dsp:cNvSpPr/>
      </dsp:nvSpPr>
      <dsp:spPr>
        <a:xfrm rot="5400000">
          <a:off x="7766870" y="-429472"/>
          <a:ext cx="1936649" cy="3222541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2ED4A-9E31-4544-AAE6-61C013CCC176}">
      <dsp:nvSpPr>
        <dsp:cNvPr id="0" name=""/>
        <dsp:cNvSpPr/>
      </dsp:nvSpPr>
      <dsp:spPr>
        <a:xfrm>
          <a:off x="7443595" y="533373"/>
          <a:ext cx="2909328" cy="2550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Scope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Rental properties across various Canadian cities</a:t>
          </a:r>
        </a:p>
      </dsp:txBody>
      <dsp:txXfrm>
        <a:off x="7443595" y="533373"/>
        <a:ext cx="2909328" cy="2550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78805-36BF-42C0-A6A7-ACD1D7BBA19A}">
      <dsp:nvSpPr>
        <dsp:cNvPr id="0" name=""/>
        <dsp:cNvSpPr/>
      </dsp:nvSpPr>
      <dsp:spPr>
        <a:xfrm>
          <a:off x="5686" y="0"/>
          <a:ext cx="800694" cy="80069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702A0-E887-4198-9486-6D7E6EE65908}">
      <dsp:nvSpPr>
        <dsp:cNvPr id="0" name=""/>
        <dsp:cNvSpPr/>
      </dsp:nvSpPr>
      <dsp:spPr>
        <a:xfrm>
          <a:off x="85755" y="80069"/>
          <a:ext cx="640555" cy="640555"/>
        </a:xfrm>
        <a:prstGeom prst="chord">
          <a:avLst>
            <a:gd name="adj1" fmla="val 1168272"/>
            <a:gd name="adj2" fmla="val 963172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554D3-0B1E-49DA-B9A8-09CFB6A8DD0C}">
      <dsp:nvSpPr>
        <dsp:cNvPr id="0" name=""/>
        <dsp:cNvSpPr/>
      </dsp:nvSpPr>
      <dsp:spPr>
        <a:xfrm>
          <a:off x="973192" y="0"/>
          <a:ext cx="2368720" cy="800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 err="1"/>
            <a:t>AverAGE</a:t>
          </a:r>
          <a:r>
            <a:rPr lang="en-US" sz="2400" b="1" kern="1200" dirty="0"/>
            <a:t> Monthly rent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2400" b="1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$1,800</a:t>
          </a:r>
          <a:endParaRPr lang="en-US" sz="2400" b="1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</dsp:txBody>
      <dsp:txXfrm>
        <a:off x="973192" y="0"/>
        <a:ext cx="2368720" cy="800694"/>
      </dsp:txXfrm>
    </dsp:sp>
    <dsp:sp modelId="{2EF09766-B477-421E-A828-7F86CE315EDC}">
      <dsp:nvSpPr>
        <dsp:cNvPr id="0" name=""/>
        <dsp:cNvSpPr/>
      </dsp:nvSpPr>
      <dsp:spPr>
        <a:xfrm>
          <a:off x="3508724" y="0"/>
          <a:ext cx="800694" cy="80069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3B3FD-0065-404B-B7B9-17877B5250B4}">
      <dsp:nvSpPr>
        <dsp:cNvPr id="0" name=""/>
        <dsp:cNvSpPr/>
      </dsp:nvSpPr>
      <dsp:spPr>
        <a:xfrm>
          <a:off x="3588793" y="80069"/>
          <a:ext cx="640555" cy="640555"/>
        </a:xfrm>
        <a:prstGeom prst="chord">
          <a:avLst>
            <a:gd name="adj1" fmla="val 20431728"/>
            <a:gd name="adj2" fmla="val 1196827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EB038-C1D0-4AF1-B5DA-F58D22215A96}">
      <dsp:nvSpPr>
        <dsp:cNvPr id="0" name=""/>
        <dsp:cNvSpPr/>
      </dsp:nvSpPr>
      <dsp:spPr>
        <a:xfrm>
          <a:off x="4476229" y="0"/>
          <a:ext cx="2368720" cy="800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Higher rents in urban areas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9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Toronto: CAD 2,500; smaller cities: CAD 1,200</a:t>
          </a:r>
        </a:p>
      </dsp:txBody>
      <dsp:txXfrm>
        <a:off x="4476229" y="0"/>
        <a:ext cx="2368720" cy="800694"/>
      </dsp:txXfrm>
    </dsp:sp>
    <dsp:sp modelId="{3541D3D9-55CA-4758-B7E2-8672B44DE871}">
      <dsp:nvSpPr>
        <dsp:cNvPr id="0" name=""/>
        <dsp:cNvSpPr/>
      </dsp:nvSpPr>
      <dsp:spPr>
        <a:xfrm>
          <a:off x="7011762" y="0"/>
          <a:ext cx="800694" cy="80069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C3603-95A0-436A-A48D-7527BCC78FD9}">
      <dsp:nvSpPr>
        <dsp:cNvPr id="0" name=""/>
        <dsp:cNvSpPr/>
      </dsp:nvSpPr>
      <dsp:spPr>
        <a:xfrm>
          <a:off x="7091831" y="80069"/>
          <a:ext cx="640555" cy="640555"/>
        </a:xfrm>
        <a:prstGeom prst="chord">
          <a:avLst>
            <a:gd name="adj1" fmla="val 162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113BA-9DFA-4F1B-8310-11C3875FC1AF}">
      <dsp:nvSpPr>
        <dsp:cNvPr id="0" name=""/>
        <dsp:cNvSpPr/>
      </dsp:nvSpPr>
      <dsp:spPr>
        <a:xfrm>
          <a:off x="7979267" y="0"/>
          <a:ext cx="2368720" cy="800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Property Type Influence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Apartments (CAD 1,600), Houses (CAD 2,200), Condos (CAD 1,900)</a:t>
          </a:r>
        </a:p>
      </dsp:txBody>
      <dsp:txXfrm>
        <a:off x="7979267" y="0"/>
        <a:ext cx="2368720" cy="800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gency FB" panose="020B0503020202020204" pitchFamily="34" charset="0"/>
              </a:rPr>
              <a:t>Rental Property Management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Insights, Trends, and Recommendations</a:t>
            </a:r>
          </a:p>
          <a:p>
            <a:r>
              <a:rPr lang="en-US" sz="2000" dirty="0">
                <a:latin typeface="Aptos" panose="020B0004020202020204" pitchFamily="34" charset="0"/>
              </a:rPr>
              <a:t>By Remy Nguyen</a:t>
            </a:r>
          </a:p>
          <a:p>
            <a:r>
              <a:rPr lang="en-US" sz="2000" dirty="0">
                <a:latin typeface="Aptos" panose="020B0004020202020204" pitchFamily="34" charset="0"/>
              </a:rPr>
              <a:t>September 12, 2024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223494"/>
              </p:ext>
            </p:extLst>
          </p:nvPr>
        </p:nvGraphicFramePr>
        <p:xfrm>
          <a:off x="914400" y="1635760"/>
          <a:ext cx="10353675" cy="5059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134D-4FC6-0F59-8913-5FF345C4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7E55-D831-DA4E-CC23-06B17171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b="1" dirty="0"/>
              <a:t>Rental Price Trends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505F4C0-9431-F004-0AB3-E0E87B0A6F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020478"/>
              </p:ext>
            </p:extLst>
          </p:nvPr>
        </p:nvGraphicFramePr>
        <p:xfrm>
          <a:off x="1005235" y="4328160"/>
          <a:ext cx="10353675" cy="5059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09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AA4D-2C7A-A0D8-5985-0277E895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Occupancy 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667D-ACEB-D94F-09DA-7351EB49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15% of properties are vacant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Apartments have higher vacancy rates (20%) than single-family homes (10%)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Highest vacancy rate: Calgary; Lowest: Toronto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Seasonal impact: Higher vacancy in winter months (Dec-Feb)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7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8252-56A9-1CBF-D0C2-A543765D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Tenant Satisfaction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C648D-67EB-4063-E6B8-F9ED3450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Average Satisfaction Score: 7.5/10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Recently renovated properties score higher (8.5) vs. older properties (6.5)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Negative correlation (-0.4) between high rent and lower satisfaction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1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5951-CD01-7D79-59A1-3F1FC4A7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Maintenance Costs &amp; Property 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391D-E4D0-7E74-BFFD-8BD00141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Properties &gt;15 years: Higher maintenance costs (CAD 250/month)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Newer properties: Lower maintenance costs (CAD 150/month)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Properties with high complaints (&gt;5/year) have lower satisfaction (score 5) and higher vacancy (25%)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7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BC76-F278-A758-F04C-EE69A4ED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Financial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0AD1-68B6-46FE-74DC-9BACF2E0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Price per Square Foot: Urban (CAD 30), Rural (CAD 15)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Longer leases (12+ months) result in fewer complaints &amp; higher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market value properties (&gt;CAD 500,000) charge higher rent (CAD 2,000)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2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3F58-890A-4F60-8444-64EABCEDD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Tenant Demographics &amp; Affordability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DB78-000B-899E-4536-D744C5314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Higher-income tenants (&gt;CAD 5,000/month) prefer high-end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30% of tenants spend &gt;30% of their income on rent, indicating financial strain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52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10C0-539E-623C-DE99-467DA211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238" y="0"/>
            <a:ext cx="10393523" cy="678576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82E1D8-9DE2-7292-1172-9E5D067D2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399"/>
            <a:ext cx="12192000" cy="6197601"/>
          </a:xfrm>
        </p:spPr>
      </p:pic>
    </p:spTree>
    <p:extLst>
      <p:ext uri="{BB962C8B-B14F-4D97-AF65-F5344CB8AC3E}">
        <p14:creationId xmlns:p14="http://schemas.microsoft.com/office/powerpoint/2010/main" val="358614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5350-5660-DCE3-8B11-B0FAEAEA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Recommendations - Rental Pricing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3AE3-81DB-F75C-9DF5-50C7DA23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Regular market analysis for competitive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Implement flexible and tiered pricing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B565-430D-DDC0-338B-0648726B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Recommendations - Property Maintenance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BA4A-AE9F-132C-67DD-50C6AEF78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Schedule regular renovations to enhance tenant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Preventative maintenance programs to reduce long-term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33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87A6-333F-0444-2729-68D1FD4F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Recommendations - Tenant Relations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030A-FC53-5EA4-FB91-294A603C7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Establish structured feedback mechanisms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Implement a responsive complaint resolution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17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6090-F9D8-A431-7A1D-1B9479DC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Recommendations - Retention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C714-6874-BFCE-2522-9BFF07A7C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Incentives for long-term leases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Tenant engagement programs (events, appreciation days)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52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4ADA-09C8-1798-1B38-FDA559CE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Recommendations - Affordability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D25B7-D799-981E-8EBC-4E38C31BB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Review rent-to-income ratios to ensure affordability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Develop more affordable housing options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816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BCBC-10A1-DE10-B753-1E92728A7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Recommendations - Data-Driven Decisions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85A1-0641-A794-F39E-C9092191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analytics tools to monitor trends and improve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Benchmark performance for efficiency and competitiveness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2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F36F-B350-7E26-D900-64AD4B2A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Recommendations - Sustainability &amp; Market Trends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FEED0-F5E6-50CA-4427-7C270437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Implement energy-efficient upgrades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Adapt to rental market changes and diversify property offerings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7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FFD1-4C58-C9CF-ACD0-0F203A74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A84E-8B2A-BF5A-6DD6-7E8B27F5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 of key findings and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Next steps for property managers and stakeholders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28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3726-C0CE-0B2D-8F36-FD59BD0C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672D-C853-2939-C9AA-49B1316C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Contact Information: Remy Nguyen</a:t>
            </a:r>
          </a:p>
          <a:p>
            <a:endParaRPr lang="en-US" dirty="0"/>
          </a:p>
          <a:p>
            <a:r>
              <a:rPr lang="en-US" dirty="0"/>
              <a:t>Q&amp;A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29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{AEE1F505-CAF1-4DA4-B2A2-007A1328CE41}tf12214701_win32</Template>
  <TotalTime>23</TotalTime>
  <Words>443</Words>
  <Application>Microsoft Office PowerPoint</Application>
  <PresentationFormat>Widescreen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Agency FB</vt:lpstr>
      <vt:lpstr>Aptos</vt:lpstr>
      <vt:lpstr>Arial</vt:lpstr>
      <vt:lpstr>Goudy Old Style</vt:lpstr>
      <vt:lpstr>Wingdings 2</vt:lpstr>
      <vt:lpstr>SlateVTI</vt:lpstr>
      <vt:lpstr>Rental Property Management Data Analysis</vt:lpstr>
      <vt:lpstr>Title Lorem Ipsum</vt:lpstr>
      <vt:lpstr>Rental Price Trends</vt:lpstr>
      <vt:lpstr>Occupancy Rate</vt:lpstr>
      <vt:lpstr>Tenant Satisfaction Analysis</vt:lpstr>
      <vt:lpstr>Maintenance Costs &amp; Property Age</vt:lpstr>
      <vt:lpstr>Financial Insights</vt:lpstr>
      <vt:lpstr>Tenant Demographics &amp; Affordability</vt:lpstr>
      <vt:lpstr>Dashboard</vt:lpstr>
      <vt:lpstr>Recommendations - Rental Pricing</vt:lpstr>
      <vt:lpstr>Recommendations - Property Maintenance</vt:lpstr>
      <vt:lpstr>Recommendations - Tenant Relations</vt:lpstr>
      <vt:lpstr>Recommendations - Retention Strategies</vt:lpstr>
      <vt:lpstr>Recommendations - Affordability</vt:lpstr>
      <vt:lpstr>Recommendations - Data-Driven Decisions</vt:lpstr>
      <vt:lpstr>Recommendations - Sustainability &amp; Market Trends</vt:lpstr>
      <vt:lpstr>Conclusion</vt:lpstr>
      <vt:lpstr>Thank You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Remy Nguyen Binh</dc:creator>
  <cp:lastModifiedBy>Remy Nguyen Binh</cp:lastModifiedBy>
  <cp:revision>1</cp:revision>
  <dcterms:created xsi:type="dcterms:W3CDTF">2025-03-06T16:56:36Z</dcterms:created>
  <dcterms:modified xsi:type="dcterms:W3CDTF">2025-03-06T17:19:39Z</dcterms:modified>
</cp:coreProperties>
</file>